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Franklin Gothic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FranklinGothic-bold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45aac78a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45aac78a1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45aac78a1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45aac78a1_2_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45aac78a1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45aac78a1_2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45aac78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45aac78a1_2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45aac78a1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45aac78a1_2_1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45aac78a1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45aac78a1_2_1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45aac78a1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45aac78a1_2_1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45aac78a1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45aac78a1_2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45aac78a1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45aac78a1_2_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45aac78a1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45aac78a1_2_1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45aac78a1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45aac78a1_2_1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45aac78a1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45aac78a1_2_1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45f03d9b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45f03d9b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45aac78a1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45aac78a1_2_1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45aac78a1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45aac78a1_2_1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8397" y="371323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1" y="2030844"/>
            <a:ext cx="9143999" cy="854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EDIFICIO</a:t>
            </a:r>
            <a:r>
              <a:rPr lang="e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MIRADOR</a:t>
            </a:r>
            <a:r>
              <a:rPr b="0" i="0" lang="e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DE SOFTWARE | RQY1102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5" name="Google Shape;1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/>
          <p:nvPr/>
        </p:nvSpPr>
        <p:spPr>
          <a:xfrm>
            <a:off x="102141" y="276696"/>
            <a:ext cx="914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7" name="Google Shape;137;p26"/>
          <p:cNvSpPr txBox="1"/>
          <p:nvPr/>
        </p:nvSpPr>
        <p:spPr>
          <a:xfrm>
            <a:off x="178745" y="2293962"/>
            <a:ext cx="2706721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INTEGRANTES, ROLES Y TIPO DE ORGANIZACIÓN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26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139" name="Google Shape;139;p26"/>
          <p:cNvGrpSpPr/>
          <p:nvPr/>
        </p:nvGrpSpPr>
        <p:grpSpPr>
          <a:xfrm>
            <a:off x="2885475" y="1218950"/>
            <a:ext cx="6129885" cy="3588007"/>
            <a:chOff x="0" y="0"/>
            <a:chExt cx="7838728" cy="2855102"/>
          </a:xfrm>
        </p:grpSpPr>
        <p:sp>
          <p:nvSpPr>
            <p:cNvPr id="140" name="Google Shape;140;p26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9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6"/>
            <p:cNvSpPr txBox="1"/>
            <p:nvPr/>
          </p:nvSpPr>
          <p:spPr>
            <a:xfrm>
              <a:off x="1662628" y="20"/>
              <a:ext cx="6176100" cy="19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300" lIns="74300" spcFirstLastPara="1" rIns="74300" wrap="square" tIns="7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Marjorie Portiño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funcional / Product Owner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Definición de requisitos y prioridades del sistema.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Instrucciones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en Figma para diseño del prototipo.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Validación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funcionalidades y apoyo en pruebas.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Coordinación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general del proyecto junto a compañero.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9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9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6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300" lIns="74300" spcFirstLastPara="1" rIns="74300" wrap="square" tIns="7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Milton Saavedra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Desarrollador/ Tester / Product Owner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Implementación 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técnica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y 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prueba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errores.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Prueba de funcionamiento y 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corrección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fallos.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Apoyo en planificación y control de versiones.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Participación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en 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decisión</a:t>
              </a:r>
              <a:r>
                <a:rPr lang="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diseño y mejoras.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135954" y="1631457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9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 txBox="1"/>
          <p:nvPr/>
        </p:nvSpPr>
        <p:spPr>
          <a:xfrm>
            <a:off x="102141" y="276696"/>
            <a:ext cx="914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2" name="Google Shape;152;p27"/>
          <p:cNvSpPr txBox="1"/>
          <p:nvPr/>
        </p:nvSpPr>
        <p:spPr>
          <a:xfrm>
            <a:off x="0" y="848137"/>
            <a:ext cx="9143999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Y PROPUESTA DE SOLUCIÓN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27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4" name="Google Shape;154;p27"/>
          <p:cNvSpPr/>
          <p:nvPr/>
        </p:nvSpPr>
        <p:spPr>
          <a:xfrm>
            <a:off x="536175" y="1627325"/>
            <a:ext cx="3261600" cy="32061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/ N</a:t>
            </a:r>
            <a:r>
              <a:rPr lang="es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s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cesidad del Cliente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ificultad para gestionar pagos y gastos comunes.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procesos manuales generan errores, retrasos y falta de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transparencia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*E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administrador no cuenta con registros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actualizados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*L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residentes no tienen acceso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rápido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la información de sus pagos.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5184050" y="1633000"/>
            <a:ext cx="3261600" cy="32061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de Software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istema web que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 el registro, actualización y desactivación de pagos.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enera reportes financieros y alertas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automáticas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el administrador y los residentes.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ejora la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trazabilidad y transparencia del proceso.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acilita la comunicación y errores humanos.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4092677" y="2802193"/>
            <a:ext cx="855406" cy="56781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1" name="Google Shape;1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/>
        </p:nvSpPr>
        <p:spPr>
          <a:xfrm>
            <a:off x="102141" y="276696"/>
            <a:ext cx="914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3" name="Google Shape;163;p28"/>
          <p:cNvSpPr txBox="1"/>
          <p:nvPr/>
        </p:nvSpPr>
        <p:spPr>
          <a:xfrm>
            <a:off x="-67825" y="775990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DEL SOFTWARE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28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5" name="Google Shape;165;p28"/>
          <p:cNvSpPr txBox="1"/>
          <p:nvPr/>
        </p:nvSpPr>
        <p:spPr>
          <a:xfrm>
            <a:off x="1" y="3061835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 aplicadas al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8"/>
          <p:cNvSpPr/>
          <p:nvPr/>
        </p:nvSpPr>
        <p:spPr>
          <a:xfrm>
            <a:off x="325075" y="1260800"/>
            <a:ext cx="8358000" cy="186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Análisis:</a:t>
            </a:r>
            <a:r>
              <a:rPr lang="es">
                <a:solidFill>
                  <a:schemeClr val="dk1"/>
                </a:solidFill>
              </a:rPr>
              <a:t> Se levantaron los requisitos funcionales y no funcionales del cliente (registro de residentes, control de pagos, reportes, notificaciones).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Diseño:</a:t>
            </a:r>
            <a:r>
              <a:rPr lang="es">
                <a:solidFill>
                  <a:schemeClr val="dk1"/>
                </a:solidFill>
              </a:rPr>
              <a:t> Se elaboraron diagramas UML y el prototipo en Figma, aplicando arquitectura en capas y patrón MVC.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Desarrollo</a:t>
            </a:r>
            <a:r>
              <a:rPr lang="es">
                <a:solidFill>
                  <a:schemeClr val="dk1"/>
                </a:solidFill>
              </a:rPr>
              <a:t>: Se </a:t>
            </a:r>
            <a:r>
              <a:rPr lang="es">
                <a:solidFill>
                  <a:schemeClr val="dk1"/>
                </a:solidFill>
              </a:rPr>
              <a:t>implementó</a:t>
            </a:r>
            <a:r>
              <a:rPr lang="es">
                <a:solidFill>
                  <a:schemeClr val="dk1"/>
                </a:solidFill>
              </a:rPr>
              <a:t> el </a:t>
            </a:r>
            <a:r>
              <a:rPr lang="es">
                <a:solidFill>
                  <a:schemeClr val="dk1"/>
                </a:solidFill>
              </a:rPr>
              <a:t>prototipo</a:t>
            </a:r>
            <a:r>
              <a:rPr lang="es">
                <a:solidFill>
                  <a:schemeClr val="dk1"/>
                </a:solidFill>
              </a:rPr>
              <a:t> siguiendo las reglas de </a:t>
            </a:r>
            <a:r>
              <a:rPr lang="es">
                <a:solidFill>
                  <a:schemeClr val="dk1"/>
                </a:solidFill>
              </a:rPr>
              <a:t>negocio</a:t>
            </a:r>
            <a:r>
              <a:rPr lang="es">
                <a:solidFill>
                  <a:schemeClr val="dk1"/>
                </a:solidFill>
              </a:rPr>
              <a:t> y validaciones definidas.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Testing:</a:t>
            </a:r>
            <a:r>
              <a:rPr lang="es">
                <a:solidFill>
                  <a:schemeClr val="dk1"/>
                </a:solidFill>
              </a:rPr>
              <a:t> Se realizaron pruebas de </a:t>
            </a:r>
            <a:r>
              <a:rPr lang="es">
                <a:solidFill>
                  <a:schemeClr val="dk1"/>
                </a:solidFill>
              </a:rPr>
              <a:t>errores</a:t>
            </a:r>
            <a:r>
              <a:rPr lang="es">
                <a:solidFill>
                  <a:schemeClr val="dk1"/>
                </a:solidFill>
              </a:rPr>
              <a:t> y validaciones de campos asegurando calidad </a:t>
            </a:r>
            <a:r>
              <a:rPr lang="es">
                <a:solidFill>
                  <a:schemeClr val="dk1"/>
                </a:solidFill>
              </a:rPr>
              <a:t>según</a:t>
            </a:r>
            <a:r>
              <a:rPr lang="es">
                <a:solidFill>
                  <a:schemeClr val="dk1"/>
                </a:solidFill>
              </a:rPr>
              <a:t> ISO/</a:t>
            </a:r>
            <a:r>
              <a:rPr lang="es">
                <a:solidFill>
                  <a:schemeClr val="dk1"/>
                </a:solidFill>
              </a:rPr>
              <a:t>IEC 2500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Mantenimiento</a:t>
            </a:r>
            <a:r>
              <a:rPr b="1" lang="es">
                <a:solidFill>
                  <a:schemeClr val="dk1"/>
                </a:solidFill>
              </a:rPr>
              <a:t>:</a:t>
            </a:r>
            <a:r>
              <a:rPr lang="es">
                <a:solidFill>
                  <a:schemeClr val="dk1"/>
                </a:solidFill>
              </a:rPr>
              <a:t> Se </a:t>
            </a:r>
            <a:r>
              <a:rPr lang="es">
                <a:solidFill>
                  <a:schemeClr val="dk1"/>
                </a:solidFill>
              </a:rPr>
              <a:t>planificó</a:t>
            </a:r>
            <a:r>
              <a:rPr lang="es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control</a:t>
            </a:r>
            <a:r>
              <a:rPr lang="es">
                <a:solidFill>
                  <a:schemeClr val="dk1"/>
                </a:solidFill>
              </a:rPr>
              <a:t> de versiones y </a:t>
            </a:r>
            <a:r>
              <a:rPr lang="es">
                <a:solidFill>
                  <a:schemeClr val="dk1"/>
                </a:solidFill>
              </a:rPr>
              <a:t>evolución</a:t>
            </a:r>
            <a:r>
              <a:rPr lang="es">
                <a:solidFill>
                  <a:schemeClr val="dk1"/>
                </a:solidFill>
              </a:rPr>
              <a:t> del sistema para futuras mejoras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325175" y="3549299"/>
            <a:ext cx="8358000" cy="149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Normativa aplicada:</a:t>
            </a:r>
            <a:r>
              <a:rPr lang="es">
                <a:solidFill>
                  <a:schemeClr val="dk1"/>
                </a:solidFill>
              </a:rPr>
              <a:t> Metodología </a:t>
            </a:r>
            <a:r>
              <a:rPr b="1" lang="es">
                <a:solidFill>
                  <a:schemeClr val="dk1"/>
                </a:solidFill>
              </a:rPr>
              <a:t>Cascada</a:t>
            </a:r>
            <a:r>
              <a:rPr lang="es">
                <a:solidFill>
                  <a:schemeClr val="dk1"/>
                </a:solidFill>
              </a:rPr>
              <a:t> y estándar </a:t>
            </a:r>
            <a:r>
              <a:rPr b="1" lang="es">
                <a:solidFill>
                  <a:schemeClr val="dk1"/>
                </a:solidFill>
              </a:rPr>
              <a:t>ISO/IEC 12207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Se </a:t>
            </a:r>
            <a:r>
              <a:rPr lang="es">
                <a:solidFill>
                  <a:schemeClr val="dk1"/>
                </a:solidFill>
              </a:rPr>
              <a:t>eligió</a:t>
            </a:r>
            <a:r>
              <a:rPr lang="es">
                <a:solidFill>
                  <a:schemeClr val="dk1"/>
                </a:solidFill>
              </a:rPr>
              <a:t> enfoque porque </a:t>
            </a:r>
            <a:r>
              <a:rPr lang="es">
                <a:solidFill>
                  <a:schemeClr val="dk1"/>
                </a:solidFill>
              </a:rPr>
              <a:t>requería</a:t>
            </a:r>
            <a:r>
              <a:rPr lang="es">
                <a:solidFill>
                  <a:schemeClr val="dk1"/>
                </a:solidFill>
              </a:rPr>
              <a:t> una planificación lineal y estructura, reflejada en la Carta </a:t>
            </a:r>
            <a:r>
              <a:rPr lang="es">
                <a:solidFill>
                  <a:schemeClr val="dk1"/>
                </a:solidFill>
              </a:rPr>
              <a:t>Gantt</a:t>
            </a:r>
            <a:r>
              <a:rPr lang="es">
                <a:solidFill>
                  <a:schemeClr val="dk1"/>
                </a:solidFill>
              </a:rPr>
              <a:t> donde cada fase debía </a:t>
            </a:r>
            <a:r>
              <a:rPr lang="es">
                <a:solidFill>
                  <a:schemeClr val="dk1"/>
                </a:solidFill>
              </a:rPr>
              <a:t>completarse</a:t>
            </a:r>
            <a:r>
              <a:rPr lang="es">
                <a:solidFill>
                  <a:schemeClr val="dk1"/>
                </a:solidFill>
              </a:rPr>
              <a:t> antes de iniciar la siguiente.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Esto permitió mantener </a:t>
            </a:r>
            <a:r>
              <a:rPr b="1" lang="es">
                <a:solidFill>
                  <a:schemeClr val="dk1"/>
                </a:solidFill>
              </a:rPr>
              <a:t>control, trazabilidad y cumplimiento</a:t>
            </a:r>
            <a:r>
              <a:rPr lang="es">
                <a:solidFill>
                  <a:schemeClr val="dk1"/>
                </a:solidFill>
              </a:rPr>
              <a:t> de los requerimientos técnicos del cliente, asegurando calidad y orden en todo el proceso.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2" name="Google Shape;1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/>
          <p:nvPr/>
        </p:nvSpPr>
        <p:spPr>
          <a:xfrm>
            <a:off x="102141" y="276696"/>
            <a:ext cx="914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4" name="Google Shape;174;p29"/>
          <p:cNvSpPr txBox="1"/>
          <p:nvPr/>
        </p:nvSpPr>
        <p:spPr>
          <a:xfrm>
            <a:off x="0" y="1074491"/>
            <a:ext cx="9143999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OBJETIVOS, ALCANCE Y LIMITACIONES DEL PROYECTO</a:t>
            </a:r>
            <a:endParaRPr sz="1100"/>
          </a:p>
        </p:txBody>
      </p:sp>
      <p:cxnSp>
        <p:nvCxnSpPr>
          <p:cNvPr id="175" name="Google Shape;175;p29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6" name="Google Shape;176;p29"/>
          <p:cNvSpPr txBox="1"/>
          <p:nvPr/>
        </p:nvSpPr>
        <p:spPr>
          <a:xfrm>
            <a:off x="591975" y="1845125"/>
            <a:ext cx="7109100" cy="29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OBJETIVO DEL PROYECTO:</a:t>
            </a:r>
            <a:r>
              <a:rPr b="1" lang="es" sz="15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Desarrollar un sistema web que optimice la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Gestión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de gastos comunes del “Edificio el Mirador”, permitiendo automatizar el registro de pagos , reducir la morosidad y mejorar la transparencia en la comunicación entre administrador y residentes.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Alcance</a:t>
            </a:r>
            <a:r>
              <a:rPr b="1" lang="es" sz="1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El sistema permite registrar residentes y unidades, controlar pagos y morosidades, emitir notificaciones y generar reporte financieros.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Limitaciones: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-Requiere conexión a internet para su funcionamiento.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-No contempla integración directa con sistemas bancarios o externos.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-Depende de la correcta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actualización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de datos por parte de la administración.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1" name="Google Shape;18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/>
          <p:nvPr/>
        </p:nvSpPr>
        <p:spPr>
          <a:xfrm>
            <a:off x="102141" y="276696"/>
            <a:ext cx="914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3" name="Google Shape;183;p30"/>
          <p:cNvSpPr txBox="1"/>
          <p:nvPr/>
        </p:nvSpPr>
        <p:spPr>
          <a:xfrm>
            <a:off x="0" y="1074491"/>
            <a:ext cx="9143999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ESTRATEGIAS DE GESTIÓN DEL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30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5" name="Google Shape;185;p30"/>
          <p:cNvSpPr txBox="1"/>
          <p:nvPr/>
        </p:nvSpPr>
        <p:spPr>
          <a:xfrm>
            <a:off x="704325" y="1772875"/>
            <a:ext cx="7109100" cy="29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Metodología</a:t>
            </a: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</a:t>
            </a:r>
            <a:r>
              <a:rPr b="1" lang="es" sz="1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Modelo cascada con fases secuenciales y controladas.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Gestión colaborativa:</a:t>
            </a:r>
            <a:r>
              <a:rPr b="1" lang="es" sz="1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Roles compartidos entre los integrantes para asegurar continuidad y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revisión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constante.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Revisión</a:t>
            </a: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periódica</a:t>
            </a: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se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realizaron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pruebas de control para validar avances y corregir errores oportunamente. 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Documentación </a:t>
            </a: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técnica</a:t>
            </a: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Uso de diagramas UML y especificaciones para mantener trazabilidad.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Control de calidad: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Validación de requisitos y pruebas funcionales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según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normas ISO/IEC 12207 Y 25500.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0" name="Google Shape;1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1"/>
          <p:cNvSpPr txBox="1"/>
          <p:nvPr/>
        </p:nvSpPr>
        <p:spPr>
          <a:xfrm>
            <a:off x="102141" y="276696"/>
            <a:ext cx="914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2" name="Google Shape;192;p31"/>
          <p:cNvSpPr txBox="1"/>
          <p:nvPr/>
        </p:nvSpPr>
        <p:spPr>
          <a:xfrm>
            <a:off x="1" y="866742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DEL PROYECTO (EDT + CARTA GANTT)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31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4" name="Google Shape;1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4325" y="1367875"/>
            <a:ext cx="4467050" cy="338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1"/>
          <p:cNvSpPr txBox="1"/>
          <p:nvPr/>
        </p:nvSpPr>
        <p:spPr>
          <a:xfrm>
            <a:off x="458225" y="1680050"/>
            <a:ext cx="26061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La carta Gantt ayuda a planificar cada parte del proyecto.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Incluye la fase,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entregable, roles, </a:t>
            </a:r>
            <a:r>
              <a:rPr lang="es">
                <a:solidFill>
                  <a:schemeClr val="dk1"/>
                </a:solidFill>
              </a:rPr>
              <a:t>duración y costo del proyecto.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/>
        </p:nvSpPr>
        <p:spPr>
          <a:xfrm>
            <a:off x="102141" y="276696"/>
            <a:ext cx="914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2" name="Google Shape;202;p32"/>
          <p:cNvSpPr txBox="1"/>
          <p:nvPr/>
        </p:nvSpPr>
        <p:spPr>
          <a:xfrm>
            <a:off x="0" y="1074491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 sz="1100"/>
          </a:p>
        </p:txBody>
      </p:sp>
      <p:cxnSp>
        <p:nvCxnSpPr>
          <p:cNvPr id="203" name="Google Shape;203;p32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4" name="Google Shape;204;p32"/>
          <p:cNvSpPr txBox="1"/>
          <p:nvPr/>
        </p:nvSpPr>
        <p:spPr>
          <a:xfrm>
            <a:off x="904925" y="2166075"/>
            <a:ext cx="7109100" cy="29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Vista Lógica:</a:t>
            </a:r>
            <a:r>
              <a:rPr lang="es" sz="1100">
                <a:solidFill>
                  <a:schemeClr val="dk1"/>
                </a:solidFill>
              </a:rPr>
              <a:t> Se enfoca en los requisitos funcionales. Muestra lo que el sistema debe hacer y cómo se divide en módulos, clases o paquetes, habitualmente usando diagramas de clases.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Vista de Procesos:</a:t>
            </a:r>
            <a:r>
              <a:rPr lang="es" sz="1100">
                <a:solidFill>
                  <a:schemeClr val="dk1"/>
                </a:solidFill>
              </a:rPr>
              <a:t> Aborda los aspectos dinámicos y de comportamiento del sistema. Se centra en la concurrencia, el rendimiento, la sincronización y la comunicación entre los diferentes procesos o hilos.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Vista de Desarrollo:</a:t>
            </a:r>
            <a:r>
              <a:rPr lang="es" sz="1100">
                <a:solidFill>
                  <a:schemeClr val="dk1"/>
                </a:solidFill>
              </a:rPr>
              <a:t> Muestra el sistema desde la perspectiva del programador. Describe cómo está organizado el software en su entorno de desarrollo, incluyendo la gestión de archivos, librerías, capas y componentes físicos de código.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Vista Física:</a:t>
            </a:r>
            <a:r>
              <a:rPr lang="es" sz="1100">
                <a:solidFill>
                  <a:schemeClr val="dk1"/>
                </a:solidFill>
              </a:rPr>
              <a:t> Representa la topología del sistema. Describe cómo los componentes de software se despliegan sobre el hardware como los servidores, redes y nodos físicos.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Vista de Casos de Uso:</a:t>
            </a:r>
            <a:r>
              <a:rPr lang="es" sz="1100">
                <a:solidFill>
                  <a:schemeClr val="dk1"/>
                </a:solidFill>
              </a:rPr>
              <a:t> Es el núcleo que unifica a las otras cuatro. Utiliza una selección de escenarios o casos de uso clave para validar y demostrar que la arquitectura funciona correctamente desde la perspectiva del usuario final.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9" name="Google Shape;2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 txBox="1"/>
          <p:nvPr/>
        </p:nvSpPr>
        <p:spPr>
          <a:xfrm>
            <a:off x="102141" y="276696"/>
            <a:ext cx="914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1" name="Google Shape;211;p33"/>
          <p:cNvSpPr txBox="1"/>
          <p:nvPr/>
        </p:nvSpPr>
        <p:spPr>
          <a:xfrm>
            <a:off x="0" y="876666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 Y NO FUNCIONALES</a:t>
            </a:r>
            <a:endParaRPr sz="1100"/>
          </a:p>
        </p:txBody>
      </p:sp>
      <p:cxnSp>
        <p:nvCxnSpPr>
          <p:cNvPr id="212" name="Google Shape;212;p33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3" name="Google Shape;213;p33"/>
          <p:cNvSpPr txBox="1"/>
          <p:nvPr/>
        </p:nvSpPr>
        <p:spPr>
          <a:xfrm>
            <a:off x="704325" y="1772875"/>
            <a:ext cx="7109100" cy="29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Requisitos funcionales:</a:t>
            </a:r>
            <a:endParaRPr b="1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Gestión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de pagos y gastos comunes.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-Registro de pagos.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-Actualización de pagos.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-Desactivación de pagos.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Requisitos no funcionales:</a:t>
            </a:r>
            <a:endParaRPr b="1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-Usabilidad: Interactivas e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intuitivas.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-Accesibilidad: Contraste, legibilidad y navegación fluida.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-Compatibilidad: Uso en PC Y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MÓVIL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-Validación de datos: Formularios con mensajes de error.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-Adaptación cultural: Idioma español, pesos Chilenos. 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8" name="Google Shape;2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4"/>
          <p:cNvSpPr txBox="1"/>
          <p:nvPr/>
        </p:nvSpPr>
        <p:spPr>
          <a:xfrm>
            <a:off x="102141" y="276696"/>
            <a:ext cx="914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20" name="Google Shape;220;p34"/>
          <p:cNvSpPr txBox="1"/>
          <p:nvPr/>
        </p:nvSpPr>
        <p:spPr>
          <a:xfrm>
            <a:off x="0" y="921341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ESTÁNDARES DE CALIDAD - ISO25000 Y OTROS</a:t>
            </a:r>
            <a:endParaRPr sz="1100"/>
          </a:p>
        </p:txBody>
      </p:sp>
      <p:cxnSp>
        <p:nvCxnSpPr>
          <p:cNvPr id="221" name="Google Shape;221;p34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2" name="Google Shape;222;p34"/>
          <p:cNvSpPr txBox="1"/>
          <p:nvPr/>
        </p:nvSpPr>
        <p:spPr>
          <a:xfrm>
            <a:off x="928475" y="1758975"/>
            <a:ext cx="7109100" cy="29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ISO/IEC 25000 (SQuaRE): 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Evalúa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calidad del software en funcionalidad, f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iabilidad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, usabilidad, eficiencia y mantenibilidad.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ISO/IEC 12207:</a:t>
            </a:r>
            <a:r>
              <a:rPr lang="e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Define el ciclo de vida del software y asegura trazabilidad en cada fase.</a:t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7" name="Google Shape;22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5"/>
          <p:cNvSpPr txBox="1"/>
          <p:nvPr/>
        </p:nvSpPr>
        <p:spPr>
          <a:xfrm>
            <a:off x="1" y="882169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DE ALTA FIDELIDAD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5"/>
          <p:cNvSpPr txBox="1"/>
          <p:nvPr/>
        </p:nvSpPr>
        <p:spPr>
          <a:xfrm>
            <a:off x="247650" y="2503275"/>
            <a:ext cx="4324500" cy="24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utilizó Figma para crear este prototipo.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implementaron los requerimientos necesarios para la gestión de gastos comunes y extraordinarios como registrar, actualizar y desactivar pagos.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6214" y="2410950"/>
            <a:ext cx="4165387" cy="246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5" name="Google Shape;23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6"/>
          <p:cNvSpPr txBox="1"/>
          <p:nvPr/>
        </p:nvSpPr>
        <p:spPr>
          <a:xfrm>
            <a:off x="1" y="865921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HEURISTICA DE NIELSEN 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6800" y="1471975"/>
            <a:ext cx="4755525" cy="15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6800" y="3048725"/>
            <a:ext cx="4755525" cy="19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6"/>
          <p:cNvSpPr txBox="1"/>
          <p:nvPr/>
        </p:nvSpPr>
        <p:spPr>
          <a:xfrm>
            <a:off x="579475" y="1750250"/>
            <a:ext cx="2795100" cy="3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Heurística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Nielsen comprueba los errores y problemas que tiene el prototipo usando 10 Heurísticas.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Heurísticas toman en cuenta distintos aspectos del uso, documentación y diseño del software ayudando a entender las faltas del prototipo.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 txBox="1"/>
          <p:nvPr>
            <p:ph type="ctrTitle"/>
          </p:nvPr>
        </p:nvSpPr>
        <p:spPr>
          <a:xfrm>
            <a:off x="1143000" y="656698"/>
            <a:ext cx="6858000" cy="5829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2700"/>
              <a:t>PLAN </a:t>
            </a:r>
            <a:r>
              <a:rPr lang="es" sz="2700"/>
              <a:t>DE PRUEBAS (ISO25000)</a:t>
            </a:r>
            <a:endParaRPr/>
          </a:p>
        </p:txBody>
      </p:sp>
      <p:sp>
        <p:nvSpPr>
          <p:cNvPr id="245" name="Google Shape;245;p37"/>
          <p:cNvSpPr txBox="1"/>
          <p:nvPr>
            <p:ph idx="1" type="subTitle"/>
          </p:nvPr>
        </p:nvSpPr>
        <p:spPr>
          <a:xfrm>
            <a:off x="1332500" y="2506100"/>
            <a:ext cx="4141500" cy="15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400">
                <a:latin typeface="Arial"/>
                <a:ea typeface="Arial"/>
                <a:cs typeface="Arial"/>
                <a:sym typeface="Arial"/>
              </a:rPr>
              <a:t>En el plan de pruebas (ISO25000) tomamos distintas variables y suposiciones para probar el prototipo y buscar la mayor cantidad de errores posibles.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400">
                <a:latin typeface="Arial"/>
                <a:ea typeface="Arial"/>
                <a:cs typeface="Arial"/>
                <a:sym typeface="Arial"/>
              </a:rPr>
              <a:t>Esto nos ayuda a mejorar el prototipo antes de crear un producto 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mínimo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 viable.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229" y="2540162"/>
            <a:ext cx="3115475" cy="14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7"/>
          <p:cNvSpPr txBox="1"/>
          <p:nvPr/>
        </p:nvSpPr>
        <p:spPr>
          <a:xfrm>
            <a:off x="5661126" y="2104100"/>
            <a:ext cx="17529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Resumen de pruebas:</a:t>
            </a:r>
            <a:endParaRPr sz="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2" name="Google Shape;25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8"/>
          <p:cNvSpPr txBox="1"/>
          <p:nvPr/>
        </p:nvSpPr>
        <p:spPr>
          <a:xfrm>
            <a:off x="1" y="1020580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ACCIONES DE MEJORA Y CONTROL DE VERSIONES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8"/>
          <p:cNvSpPr txBox="1"/>
          <p:nvPr/>
        </p:nvSpPr>
        <p:spPr>
          <a:xfrm>
            <a:off x="605000" y="1763025"/>
            <a:ext cx="4735200" cy="28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Para mantener un orden en el control de versiones utilizamos un control de versiones basado en la fecha que se crearon las actualizaciones del prototipo.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Este metodo tambien fue utilizado en github para mantener registro de nuestro progreso sobre este proyecto.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3175" y="1587580"/>
            <a:ext cx="2474635" cy="333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0" name="Google Shape;26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9"/>
          <p:cNvSpPr txBox="1"/>
          <p:nvPr/>
        </p:nvSpPr>
        <p:spPr>
          <a:xfrm>
            <a:off x="0" y="2283209"/>
            <a:ext cx="9143999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sz="1100"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